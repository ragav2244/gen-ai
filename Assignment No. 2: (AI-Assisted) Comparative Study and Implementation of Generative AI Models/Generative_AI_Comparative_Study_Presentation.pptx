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73B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73B3A"/>
                </a:solidFill>
                <a:latin typeface="Arial"/>
              </a:rPr>
              <a:t>Test reconstruction MSE (8 test images)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reconstruction MSE</c:v>
                </c:pt>
              </c:strCache>
            </c:strRef>
          </c:tx>
          <c:spPr>
            <a:solidFill>
              <a:srgbClr val="073B3A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AE</c:v>
                  </c:pt>
                  <c:pt idx="1">
                    <c:v>VAE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0.018874</c:v>
                </c:pt>
                <c:pt idx="1">
                  <c:v>0.018648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25"/>
          <c:min val="0"/>
        </c:scaling>
        <c:delete val="0"/>
        <c:axPos val="l"/>
        <c:majorGridlines>
          <c:spPr>
            <a:ln w="9525" cap="flat">
              <a:solidFill>
                <a:srgbClr val="D9E3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MSE (unitless)</a:t>
                </a:r>
              </a:p>
            </c:rich>
          </c:tx>
          <c:layout/>
          <c:overlay val="0"/>
        </c:title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curved 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" cy="1078992"/>
          </a:xfrm>
          <a:prstGeom prst="rect">
            <a:avLst/>
          </a:prstGeom>
        </p:spPr>
      </p:pic>
      <p:pic>
        <p:nvPicPr>
          <p:cNvPr id="3" name="Image 1" descr="Decorative curved li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2194560" cy="1335024"/>
          </a:xfrm>
          <a:prstGeom prst="rect">
            <a:avLst/>
          </a:prstGeom>
        </p:spPr>
      </p:pic>
      <p:pic>
        <p:nvPicPr>
          <p:cNvPr id="4" name="Image 2" descr="Decorative leav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-137160"/>
            <a:ext cx="2011680" cy="2199869"/>
          </a:xfrm>
          <a:prstGeom prst="rect">
            <a:avLst/>
          </a:prstGeom>
        </p:spPr>
      </p:pic>
      <p:pic>
        <p:nvPicPr>
          <p:cNvPr id="5" name="Image 3" descr="Decorative leav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880" y="5623560"/>
            <a:ext cx="1188720" cy="1278502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292608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NO. 2</a:t>
            </a:r>
            <a:endParaRPr lang="en-US" sz="3200" dirty="0"/>
          </a:p>
        </p:txBody>
      </p:sp>
      <p:sp>
        <p:nvSpPr>
          <p:cNvPr id="7" name="Text 1"/>
          <p:cNvSpPr txBox="1"/>
          <p:nvPr/>
        </p:nvSpPr>
        <p:spPr>
          <a:xfrm>
            <a:off x="822960" y="100584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7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STUDY AND IMPLEMENTATION OF GENERATIVE AI MODELS</a:t>
            </a:r>
            <a:endParaRPr lang="en-US" sz="3800" dirty="0"/>
          </a:p>
        </p:txBody>
      </p:sp>
      <p:sp>
        <p:nvSpPr>
          <p:cNvPr id="8" name="Text 2"/>
          <p:cNvSpPr txBox="1"/>
          <p:nvPr/>
        </p:nvSpPr>
        <p:spPr>
          <a:xfrm>
            <a:off x="822960" y="30175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7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Reconstruction and Image Generation</a:t>
            </a:r>
            <a:endParaRPr lang="en-US" sz="2400" dirty="0"/>
          </a:p>
        </p:txBody>
      </p:sp>
      <p:sp>
        <p:nvSpPr>
          <p:cNvPr id="9" name="Text 3"/>
          <p:cNvSpPr txBox="1"/>
          <p:nvPr/>
        </p:nvSpPr>
        <p:spPr>
          <a:xfrm>
            <a:off x="548640" y="38862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:- PARTH KITCHLOO     PRN :- 202401110014</a:t>
            </a:r>
            <a:endParaRPr lang="en-US" sz="19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:- RAGAV SHARMA     PRN :- 202401110012</a:t>
            </a:r>
            <a:endParaRPr lang="en-US" sz="19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:- GUFRAN SHAH     PRN :- 202401110011</a:t>
            </a:r>
            <a:endParaRPr lang="en-US" sz="19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:- SANDEEP KOTWAL     PRN :- 202401110052</a:t>
            </a:r>
            <a:endParaRPr lang="en-US" sz="19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:- AIML    BATCH :- A2</a:t>
            </a:r>
            <a:endParaRPr lang="en-US" sz="1900" dirty="0"/>
          </a:p>
        </p:txBody>
      </p:sp>
      <p:sp>
        <p:nvSpPr>
          <p:cNvPr id="10" name="Page badge"/>
          <p:cNvSpPr/>
          <p:nvPr/>
        </p:nvSpPr>
        <p:spPr>
          <a:xfrm>
            <a:off x="11064240" y="643737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73B3A"/>
          </a:solidFill>
          <a:ln w="12700">
            <a:solidFill>
              <a:srgbClr val="073B3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11109960" y="64373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curved 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97880"/>
            <a:ext cx="1371600" cy="1261872"/>
          </a:xfrm>
          <a:prstGeom prst="rect">
            <a:avLst/>
          </a:prstGeom>
        </p:spPr>
      </p:pic>
      <p:pic>
        <p:nvPicPr>
          <p:cNvPr id="3" name="Image 1" descr="Decorative leav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-274320"/>
            <a:ext cx="1737360" cy="189988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25603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7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MODELS STUDIED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411480" y="10515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learns patterns from data to rebuild or create images. Here we compare two ways of working: reconstructing an input image, and generating a new one.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1874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RECONSTRUCTION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172200" y="18745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GENERATION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11480" y="2286000"/>
            <a:ext cx="2697480" cy="3429000"/>
          </a:xfrm>
          <a:prstGeom prst="roundRect">
            <a:avLst>
              <a:gd name="adj" fmla="val 8475"/>
            </a:avLst>
          </a:prstGeom>
          <a:solidFill>
            <a:srgbClr val="073B3A"/>
          </a:solidFill>
          <a:ln w="12700">
            <a:solidFill>
              <a:srgbClr val="073B3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" y="2468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 (AE)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320040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encoder squeezes the image into a small latent code; a decoder rebuilds the image. Trained to minimise MSE.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4800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→ Encoder → z → Decoder → Image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291840" y="2286000"/>
            <a:ext cx="2697480" cy="3429000"/>
          </a:xfrm>
          <a:prstGeom prst="roundRect">
            <a:avLst>
              <a:gd name="adj" fmla="val 8475"/>
            </a:avLst>
          </a:prstGeom>
          <a:solidFill>
            <a:srgbClr val="073B3A"/>
          </a:solidFill>
          <a:ln w="12700">
            <a:solidFill>
              <a:srgbClr val="073B3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74720" y="2468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Variational Autoencoder (VAE)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320040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encoder predicts a mean and variance; a sampled latent z is decoded. Loss = reconstruction + KL divergence.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4800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→ μ, σ → sample z → Decoder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46520" y="2286000"/>
            <a:ext cx="2697480" cy="3429000"/>
          </a:xfrm>
          <a:prstGeom prst="roundRect">
            <a:avLst>
              <a:gd name="adj" fmla="val 8475"/>
            </a:avLst>
          </a:prstGeom>
          <a:solidFill>
            <a:srgbClr val="073B3A"/>
          </a:solidFill>
          <a:ln w="12700">
            <a:solidFill>
              <a:srgbClr val="073B3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629400" y="2468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DCGAN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6629400" y="320040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generator turns random noise into images while a discriminator learns to tell real from fake.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629400" y="4800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→ Generator → Fake image ⇄ Discriminator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9326880" y="2286000"/>
            <a:ext cx="2697480" cy="3429000"/>
          </a:xfrm>
          <a:prstGeom prst="roundRect">
            <a:avLst>
              <a:gd name="adj" fmla="val 8475"/>
            </a:avLst>
          </a:prstGeom>
          <a:solidFill>
            <a:srgbClr val="073B3A"/>
          </a:solidFill>
          <a:ln w="12700">
            <a:solidFill>
              <a:srgbClr val="073B3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509760" y="2468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Diffusion (pretrained)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9509760" y="320040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pretrained latent diffusion model removes noise step by step, guided by a text prompt.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9509760" y="4800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→ Text encoder → Denoising → Image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737360" y="59436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AE, VAE and DCGAN use MNIST digits; Stable Diffusion generates images from text prompts.</a:t>
            </a:r>
            <a:endParaRPr lang="en-US" sz="1400" dirty="0"/>
          </a:p>
        </p:txBody>
      </p:sp>
      <p:sp>
        <p:nvSpPr>
          <p:cNvPr id="25" name="Page badge"/>
          <p:cNvSpPr/>
          <p:nvPr/>
        </p:nvSpPr>
        <p:spPr>
          <a:xfrm>
            <a:off x="11064240" y="643737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73B3A"/>
          </a:solidFill>
          <a:ln w="12700">
            <a:solidFill>
              <a:srgbClr val="073B3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1109960" y="64373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curved 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97880"/>
            <a:ext cx="1371600" cy="1261872"/>
          </a:xfrm>
          <a:prstGeom prst="rect">
            <a:avLst/>
          </a:prstGeom>
        </p:spPr>
      </p:pic>
      <p:pic>
        <p:nvPicPr>
          <p:cNvPr id="3" name="Image 1" descr="Decorative leav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-274320"/>
            <a:ext cx="1737360" cy="189988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2560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7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EXPERIMENTAL SETUP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411480" y="1188720"/>
            <a:ext cx="5394960" cy="2286000"/>
          </a:xfrm>
          <a:prstGeom prst="roundRect">
            <a:avLst>
              <a:gd name="adj" fmla="val 10000"/>
            </a:avLst>
          </a:prstGeom>
          <a:solidFill>
            <a:srgbClr val="073B3A"/>
          </a:solidFill>
          <a:ln w="12700">
            <a:solidFill>
              <a:srgbClr val="073B3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13716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notebook, NVIDIA Tesla T4 GPU (CUDA)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3.13.16, PyTorch 2.11.0+cu130, torchvision 0.26.0+cu130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seed 42 for repeatable runs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6126480" y="1188720"/>
            <a:ext cx="5669280" cy="2286000"/>
          </a:xfrm>
          <a:prstGeom prst="roundRect">
            <a:avLst>
              <a:gd name="adj" fmla="val 10000"/>
            </a:avLst>
          </a:prstGeom>
          <a:solidFill>
            <a:srgbClr val="073B3A"/>
          </a:solidFill>
          <a:ln w="12700">
            <a:solidFill>
              <a:srgbClr val="073B3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0" y="13716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models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subset: 12,000 train / 2,000 test images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AE, VAE, DCGAN: 10 epochs each, batch size 128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size: AE 32, VAE 16; DCGAN noise 64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Diffusion v1.5: pretrained, not trained here; 20 steps, guidance 7.0, 512 × 512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INPUTS AND OUTPUTS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11480" y="4160520"/>
            <a:ext cx="2697480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73B3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4251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6634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image → AE → reconstructed digit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291840" y="4160520"/>
            <a:ext cx="2697480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73B3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429000" y="4251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46634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image → VAE → reconstruction; random z → new digits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172200" y="4160520"/>
            <a:ext cx="2697480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73B3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309360" y="4251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DCGAN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309360" y="46634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noise → generator → digit-like image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9052560" y="4160520"/>
            <a:ext cx="2697480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73B3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189720" y="4251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Diffusion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9189720" y="46634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prompt → pretrained pipeline → 512 × 512 image</a:t>
            </a:r>
            <a:endParaRPr lang="en-US" sz="1400" dirty="0"/>
          </a:p>
        </p:txBody>
      </p:sp>
      <p:sp>
        <p:nvSpPr>
          <p:cNvPr id="22" name="Page badge"/>
          <p:cNvSpPr/>
          <p:nvPr/>
        </p:nvSpPr>
        <p:spPr>
          <a:xfrm>
            <a:off x="11064240" y="643737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73B3A"/>
          </a:solidFill>
          <a:ln w="12700">
            <a:solidFill>
              <a:srgbClr val="073B3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1109960" y="64373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lea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-274320"/>
            <a:ext cx="1463040" cy="159990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5603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7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COMPARATIVE ANALYSIS</a:t>
            </a:r>
            <a:endParaRPr lang="en-US" sz="3400" dirty="0"/>
          </a:p>
        </p:txBody>
      </p:sp>
      <p:pic>
        <p:nvPicPr>
          <p:cNvPr id="4" name="Image 1" descr="AE: original MNIST digits (top row) and reconstructions (bottom row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4937760" cy="13760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11480" y="249631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F5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  AE: original (top) vs reconstructed (bottom)</a:t>
            </a:r>
            <a:endParaRPr lang="en-US" sz="1100" dirty="0"/>
          </a:p>
        </p:txBody>
      </p:sp>
      <p:pic>
        <p:nvPicPr>
          <p:cNvPr id="6" name="Image 2" descr="VAE: original MNIST digits (top row) and reconstructions (bottom row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0"/>
            <a:ext cx="4937760" cy="140875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11480" y="41605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F5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  VAE: original (top) vs reconstructed (bottom)</a:t>
            </a:r>
            <a:endParaRPr lang="en-US" sz="1100" dirty="0"/>
          </a:p>
        </p:txBody>
      </p:sp>
      <p:pic>
        <p:nvPicPr>
          <p:cNvPr id="8" name="Image 3" descr="DCGAN: 64 generated handwritten-digit sampl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434840"/>
            <a:ext cx="1645920" cy="165221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11480" y="61081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F5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3  DCGAN samples</a:t>
            </a:r>
            <a:endParaRPr lang="en-US" sz="1100" dirty="0"/>
          </a:p>
        </p:txBody>
      </p:sp>
      <p:pic>
        <p:nvPicPr>
          <p:cNvPr id="10" name="Image 4" descr="Stable Diffusion generated image 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434840"/>
            <a:ext cx="822960" cy="822960"/>
          </a:xfrm>
          <a:prstGeom prst="rect">
            <a:avLst/>
          </a:prstGeom>
        </p:spPr>
      </p:pic>
      <p:pic>
        <p:nvPicPr>
          <p:cNvPr id="11" name="Image 5" descr="Stable Diffusion generated image 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4434840"/>
            <a:ext cx="822960" cy="822960"/>
          </a:xfrm>
          <a:prstGeom prst="rect">
            <a:avLst/>
          </a:prstGeom>
        </p:spPr>
      </p:pic>
      <p:pic>
        <p:nvPicPr>
          <p:cNvPr id="12" name="Image 6" descr="Stable Diffusion generated image 3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5257800"/>
            <a:ext cx="822960" cy="822960"/>
          </a:xfrm>
          <a:prstGeom prst="rect">
            <a:avLst/>
          </a:prstGeom>
        </p:spPr>
      </p:pic>
      <p:pic>
        <p:nvPicPr>
          <p:cNvPr id="13" name="Image 7" descr="Stable Diffusion generated image 4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8960" y="5257800"/>
            <a:ext cx="822960" cy="822960"/>
          </a:xfrm>
          <a:prstGeom prst="rect">
            <a:avLst/>
          </a:prstGeom>
        </p:spPr>
      </p:pic>
      <p:sp>
        <p:nvSpPr>
          <p:cNvPr id="14" name="Text 4"/>
          <p:cNvSpPr txBox="1"/>
          <p:nvPr/>
        </p:nvSpPr>
        <p:spPr>
          <a:xfrm>
            <a:off x="2286000" y="61081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F5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4  Stable Diffusion</a:t>
            </a:r>
            <a:endParaRPr lang="en-US" sz="1100" dirty="0"/>
          </a:p>
        </p:txBody>
      </p:sp>
      <p:sp>
        <p:nvSpPr>
          <p:cNvPr id="15" name="Text 5"/>
          <p:cNvSpPr txBox="1"/>
          <p:nvPr/>
        </p:nvSpPr>
        <p:spPr>
          <a:xfrm>
            <a:off x="4023360" y="44348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F5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Prompts: tiger, kingfisher, mountain sunrise, wildflowers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097280"/>
          <a:ext cx="61722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874520"/>
                <a:gridCol w="3154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→ output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 in notebook outputs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MNIST digit → reconstruction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 shapes kept; strokes blurred; one 4 drawn closer to a 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 → reconstruction; random z → samples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Similar blur; the 2 distorted; random samples often malformed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DCGAN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Noise → digit-like image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Digit-like strokes; many artefacts; some not recognisable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 Diffusion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prompt → 512 × 512 image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Detailed, realistic scenes; minor artefacts (e.g. stray branch piece)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Chart 0" descr=""/>
          <p:cNvGraphicFramePr/>
          <p:nvPr/>
        </p:nvGraphicFramePr>
        <p:xfrm>
          <a:off x="5669280" y="3931920"/>
          <a:ext cx="35661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18" name="Shape 6"/>
          <p:cNvSpPr/>
          <p:nvPr/>
        </p:nvSpPr>
        <p:spPr>
          <a:xfrm>
            <a:off x="9372600" y="3931920"/>
            <a:ext cx="2468880" cy="2423160"/>
          </a:xfrm>
          <a:prstGeom prst="roundRect">
            <a:avLst>
              <a:gd name="adj" fmla="val 9434"/>
            </a:avLst>
          </a:prstGeom>
          <a:solidFill>
            <a:srgbClr val="073B3A"/>
          </a:solidFill>
          <a:ln w="12700">
            <a:solidFill>
              <a:srgbClr val="073B3A"/>
            </a:solidFill>
            <a:prstDash val="solid"/>
          </a:ln>
        </p:spPr>
      </p:sp>
      <p:sp>
        <p:nvSpPr>
          <p:cNvPr id="19" name="Text 7"/>
          <p:cNvSpPr txBox="1"/>
          <p:nvPr/>
        </p:nvSpPr>
        <p:spPr>
          <a:xfrm>
            <a:off x="9528048" y="4041648"/>
            <a:ext cx="2176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 train loss (MSE): 0.0895 → 0.0222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 train loss (BCE+KL): 248.56 → 119.69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Losses use different definitions, so they are not compared. Test MSE uses only 8 test images: not a ranking.</a:t>
            </a:r>
            <a:endParaRPr lang="en-US" sz="1300" dirty="0"/>
          </a:p>
        </p:txBody>
      </p:sp>
      <p:sp>
        <p:nvSpPr>
          <p:cNvPr id="20" name="Page badge"/>
          <p:cNvSpPr/>
          <p:nvPr/>
        </p:nvSpPr>
        <p:spPr>
          <a:xfrm>
            <a:off x="11064240" y="643737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73B3A"/>
          </a:solidFill>
          <a:ln w="12700">
            <a:solidFill>
              <a:srgbClr val="073B3A"/>
            </a:solidFill>
            <a:prstDash val="solid"/>
          </a:ln>
        </p:spPr>
      </p:sp>
      <p:sp>
        <p:nvSpPr>
          <p:cNvPr id="21" name="Text 9"/>
          <p:cNvSpPr txBox="1"/>
          <p:nvPr/>
        </p:nvSpPr>
        <p:spPr>
          <a:xfrm>
            <a:off x="11109960" y="64373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lea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-274320"/>
            <a:ext cx="1645920" cy="179989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5603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73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LEARNING OUTCOMES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  <a:gridCol w="2834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Simple; compact latent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Blurs details; latent space not structured for sampling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Probabilistic latent space; can sample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Blurry outputs; random samples often unclear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DCGAN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Sharp-edged digit-like samples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Artefacts after short training; training can be unstable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 Diffusion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Detailed, text-guided images with no training here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Heavy compute; prompt details not always followed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680960" y="1188720"/>
            <a:ext cx="4160520" cy="3108960"/>
          </a:xfrm>
          <a:prstGeom prst="roundRect">
            <a:avLst>
              <a:gd name="adj" fmla="val 7353"/>
            </a:avLst>
          </a:prstGeom>
          <a:solidFill>
            <a:srgbClr val="073B3A"/>
          </a:solidFill>
          <a:ln w="12700">
            <a:solidFill>
              <a:srgbClr val="073B3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909560" y="13716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 rebuilds a given input; generation creates new images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pretrained diffusion model gives text-conditioned detail without training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model wins: each suits a different goal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411480" y="4572000"/>
            <a:ext cx="5669280" cy="1600200"/>
          </a:xfrm>
          <a:prstGeom prst="roundRect">
            <a:avLst>
              <a:gd name="adj" fmla="val 14286"/>
            </a:avLst>
          </a:prstGeom>
          <a:solidFill>
            <a:srgbClr val="073B3A"/>
          </a:solidFill>
          <a:ln w="12700">
            <a:solidFill>
              <a:srgbClr val="073B3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470916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limitations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data and outputs (MNIST digits vs text-to-image), small subsets, 10 epochs, one run: a capability comparison, not a benchmark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217920" y="4572000"/>
            <a:ext cx="5623560" cy="1600200"/>
          </a:xfrm>
          <a:prstGeom prst="roundRect">
            <a:avLst>
              <a:gd name="adj" fmla="val 14286"/>
            </a:avLst>
          </a:prstGeom>
          <a:solidFill>
            <a:srgbClr val="073B3A"/>
          </a:solidFill>
          <a:ln w="12700">
            <a:solidFill>
              <a:srgbClr val="073B3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46520" y="470916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AE/VAE: compression, denoising, anomaly detection. DCGAN: data augmentation. Stable Diffusion: concept art, design drafts.</a:t>
            </a:r>
            <a:endParaRPr lang="en-US" sz="1500" dirty="0"/>
          </a:p>
        </p:txBody>
      </p:sp>
      <p:sp>
        <p:nvSpPr>
          <p:cNvPr id="11" name="Page badge"/>
          <p:cNvSpPr/>
          <p:nvPr/>
        </p:nvSpPr>
        <p:spPr>
          <a:xfrm>
            <a:off x="11064240" y="643737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73B3A"/>
          </a:solidFill>
          <a:ln w="12700">
            <a:solidFill>
              <a:srgbClr val="073B3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109960" y="64373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Study and Implementation of Generative AI Models</dc:title>
  <dc:subject>PptxGenJS Presentation</dc:subject>
  <dc:creator>Group (AIML, Batch A2)</dc:creator>
  <cp:lastModifiedBy>Group (AIML, Batch A2)</cp:lastModifiedBy>
  <cp:revision>1</cp:revision>
  <dcterms:created xsi:type="dcterms:W3CDTF">2026-10-29T05:30:44Z</dcterms:created>
  <dcterms:modified xsi:type="dcterms:W3CDTF">2026-10-29T05:30:44Z</dcterms:modified>
</cp:coreProperties>
</file>